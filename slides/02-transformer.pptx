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72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79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256032" y="1097280"/>
            <a:ext cx="1920240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56032" y="1097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SGAIM  ·  Semana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14173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arquitectura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56032" y="3218688"/>
            <a:ext cx="310896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256032" y="3383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· Arquitecturas · Backpropagation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822960"/>
            <a:ext cx="1920240" cy="310896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7086600" y="91440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p(x₁)·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p(x₂|x₁)·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p(x₃|x₁,x₂)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···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estávamos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54864" cy="3200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semana passada: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p(x) é a ideia central de todo o generativo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Gaussiana falha — não captura a geometria do manifold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factorização autoregressiva decompõe o problema: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30352" y="2944368"/>
            <a:ext cx="3840480" cy="9144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21792" y="30358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p(x₁) · p(x₂|x₁) · p(x₃|x₁,x₂) · 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3977640" cy="18288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54864" cy="1828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846320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2984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máquina que implementa esta ideia.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09160" y="2788920"/>
            <a:ext cx="3977640" cy="10972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  →  RNN  →  CNN  →  </a:t>
            </a:r>
            <a:r>
              <a:rPr lang="en-US" sz="15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Vamos CONSTRUIR um GPT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3657600" cy="141732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4.192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— o nosso microGPT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804672"/>
            <a:ext cx="3657600" cy="141732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120640" y="868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1T+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1206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— GPT-4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3192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54864" cy="22860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66928" y="2395728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exercícios · ~200 linhas de código total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bibliotecas — só Python puro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Algoritmicamente idêntico ao GPT-2, GPT-3, GPT-4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arquitectura é a mesma. A escala é diferente.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6 exercícios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8229600" cy="332841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Conceito-chave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Autograd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Gradientes, chain rule + tokenizer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Linear, softmax, RMSNorm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Q/K/V, scaled dot-product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GPT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attention, residuals, forward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loss, SGD, 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+ Experiments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Sampling, ablações — o core da avaliação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11480" y="4005072"/>
            <a:ext cx="54864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566928" y="40416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Hoje recebem o mapa. E começam a construir — pelos alicerces (ex1 e ex2).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Teoria distribuída pelas 3 semanas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6334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(~40 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hoje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Tokenização + mapa de arquitecturas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ex1, ex2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 a fundo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ex3, ex4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 + ponte microGPT → GPT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ex5, ex6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3063240"/>
            <a:ext cx="54864" cy="1463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3"/>
          <p:cNvSpPr/>
          <p:nvPr/>
        </p:nvSpPr>
        <p:spPr>
          <a:xfrm>
            <a:off x="566928" y="3090672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dá-vos o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que estão a construir e porquê.
Os exercícios dão-vos os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alicerces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 peças que compõem esse mapa.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é que o modelo VÊ texto?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modelo não lê letras. Lê </a:t>
            </a:r>
            <a:r>
              <a:rPr lang="en-US" sz="1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números inteiros.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73736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508760"/>
            <a:ext cx="1737360" cy="82296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606040" y="1508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inteiros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1508760"/>
            <a:ext cx="1737360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074920" y="1508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1508760"/>
            <a:ext cx="1737360" cy="82296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7269480" y="1508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1572768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43400" y="1572768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1572768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66928" y="2578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de converter texto em inteiros chama-se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3127248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primeiro passo de qualquer LLM — e é o que vão implementar no exercício 1: construir o vocabulário, as funções encode e decode.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abordagens de tokenização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Exemplo: "playing"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 l, a, y, i, n, 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Palavra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~100.000+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Subword (BPE)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play, 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788920"/>
            <a:ext cx="274320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3"/>
          <p:cNvSpPr/>
          <p:nvPr/>
        </p:nvSpPr>
        <p:spPr>
          <a:xfrm>
            <a:off x="457200" y="278892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66928" y="28712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</a:t>
            </a:r>
            <a:endParaRPr lang="en-US" sz="1300" dirty="0"/>
          </a:p>
        </p:txBody>
      </p:sp>
      <p:sp>
        <p:nvSpPr>
          <p:cNvPr id="4" name="Text 5"/>
          <p:cNvSpPr/>
          <p:nvPr/>
        </p:nvSpPr>
        <p:spPr>
          <a:xfrm>
            <a:off x="566928" y="329184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Simples, mas sequências longas — contexto gasto em letras.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2788920"/>
            <a:ext cx="274320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3310128" y="278892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3419856" y="28712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Palavra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19856" y="329184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explode. Palavras novas ou gralhas → token desconhecido.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788920"/>
            <a:ext cx="274320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1"/>
          <p:cNvSpPr/>
          <p:nvPr/>
        </p:nvSpPr>
        <p:spPr>
          <a:xfrm>
            <a:off x="6172200" y="278892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281928" y="28712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Subword (BPE)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81928" y="329184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sweet spot. Vocabulário finito, palavras comuns inteiras, raras decompostas. Usado pelo GPT, LLaMA, Claude.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BPE em acção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77724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406640" y="777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Pair Encoding — fundir iterativamente os pares mais frequentes: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1755648"/>
          </a:xfrm>
          <a:prstGeom prst="rect">
            <a:avLst/>
          </a:prstGeom>
          <a:solidFill>
            <a:srgbClr val="1C282E"/>
          </a:solidFill>
          <a:ln w="12700">
            <a:solidFill>
              <a:srgbClr val="1C28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7955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0:  l o w   l o w e r   l o w e s t     (caracteres)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1:  lo w    lo w e r    lo w e s t       (merge l+o)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2:  low     low e r     low e s t        (merge lo+w)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⋮       'er' e 'est' aparecem em muitas palavras → fundidos cedo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Final:    low     low er      low 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subwords resultantes fazem sentido linguístico: "low", "er", "est".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" cy="11430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621792" y="3730752"/>
            <a:ext cx="7973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tiktokenizer.vercel.app</a:t>
            </a:r>
            <a:r>
              <a:rPr lang="en-US" sz="13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(~3 min)  |  Comparem GPT-2 vs GPT-4o no mesmo texto.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Experimentem: código Python, texto em PT, fórmulas químicas — cada tokenizer "vê" o texto de forma diferente.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Implicações da tokenização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4114800" cy="16002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21792" y="987552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987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517904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em tokens, não em palavras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4114800" cy="16002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621792" y="276148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21792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761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 de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329184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output custam ~3–4× mais que os de input (output é gerado token a token; input é processado em paralelo)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804672"/>
            <a:ext cx="4114800" cy="16002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4965192" y="987552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965192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987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Português ≈ 1.3× mais tokens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65192" y="1517904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treinado em corpora maioritariamente EN — o mesmo conteúdo em PT usa mais tokens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2578608"/>
            <a:ext cx="4114800" cy="16002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965192" y="276148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965192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2761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Artefactos da tokenização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329184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Explicam comportamentos estranhos: dificuldade em contar letras, inverter palavras, aritmética simples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microGPT: tokenização por caracter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54864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nosso vocabulário: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tokens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(26 letras  +  BOS = Beginning-of-Sequence)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1C282E"/>
          </a:solidFill>
          <a:ln w="12700">
            <a:solidFill>
              <a:srgbClr val="1C28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uchars = ['a', 'b', 'c', ..., 'z']   # a=0, b=1, ..., z=25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 = 26                              # Beginning-of-Sequence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vocab_size = 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749808"/>
          </a:xfrm>
          <a:prstGeom prst="rect">
            <a:avLst/>
          </a:prstGeom>
          <a:solidFill>
            <a:srgbClr val="1C282E"/>
          </a:solidFill>
          <a:ln w="12700">
            <a:solidFill>
              <a:srgbClr val="1C28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encode("emma")         =&gt;  [4, 12, 12, 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decode([4, 12, 12, 0])  =&gt;  "emma"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429000"/>
            <a:ext cx="54864" cy="1325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66928" y="34564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isto que vão implementar no exercício 1: vocabulário,  encode  e  decode.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" y="39776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character mapeia para um inteiro. O modelo nunca vê strings — só tensores.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THINK: qual é a loss de um modelo aleatório?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77724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452360" y="777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THINK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o modelo atribui probabilidade p ao token correcto:   loss = −log(p)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166420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(certeza absoluta)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0128" y="1463040"/>
            <a:ext cx="2651760" cy="166420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265176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401568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1/27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(palpite aleatório)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log(27) ≈ 3.30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63056" y="1463040"/>
            <a:ext cx="2651760" cy="166420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65176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6254496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54496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(completamente errado)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→ ∞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118872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54864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621792" y="3383280"/>
            <a:ext cx="7973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Guardem o </a:t>
            </a: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</a:t>
            </a: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é o baseline de um modelo que não aprendeu nada.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treinarem no ex5, a loss inicial deve ser ≈ 3.30. Se for muito diferente, algo está errado.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Precisamos de uma máquina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868680"/>
            <a:ext cx="6949440" cy="10058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1188720" y="896112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p(x₁) · p(x₂|x₁) · p(x₃|x₁,x₂) · 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54864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66928" y="208483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estimar cada p(xₜ | x＜ₜ), precisamos de uma rede que receba os tokens anteriores e produza uma distribuição sobre o próximo.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456432"/>
            <a:ext cx="8229600" cy="10058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8229600" cy="54864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8010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é: </a:t>
            </a:r>
            <a:r>
              <a:rPr lang="en-US" sz="14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que a rede "vê" os tokens anteriores?</a:t>
            </a: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Todos? Só os últimos N? Um resumo comprimido?  A resposta define a arquitectura.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Tentativa 1: MLP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8666" y="658368"/>
            <a:ext cx="3474720" cy="32004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85800" y="896112"/>
            <a:ext cx="914400" cy="384048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399032"/>
            <a:ext cx="914400" cy="384048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85800" y="13990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901952"/>
            <a:ext cx="914400" cy="384048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404872"/>
            <a:ext cx="914400" cy="384048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685800" y="2404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1371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212848" y="960120"/>
            <a:ext cx="1097280" cy="201168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2212848" y="960120"/>
            <a:ext cx="1097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371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p(next)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896112"/>
            <a:ext cx="0" cy="201168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 rot="16200000">
            <a:off x="-259023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6757" y="658368"/>
            <a:ext cx="54864" cy="3200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160520" y="822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12070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16824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Paralelo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22128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2606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Janela fixa + pesos rígidos por posição — não aprende que token −5 pode ser mais relevante que token −1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06240" y="32644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Sliding window não resolve: nunca vê dois tokens distantes juntos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Tentativa 2: RNN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3474720" cy="320040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58368" y="896112"/>
            <a:ext cx="822960" cy="457200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xₜ₋3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896112"/>
            <a:ext cx="822960" cy="45720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1965960" y="896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hₜ₋3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896112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1536192"/>
            <a:ext cx="822960" cy="457200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58368" y="15361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xₜ₋2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1536192"/>
            <a:ext cx="822960" cy="45720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1965960" y="15361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hₜ₋2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1536192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77440" y="1362456"/>
            <a:ext cx="0" cy="173736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658368" y="2176272"/>
            <a:ext cx="822960" cy="457200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58368" y="21762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xₜ₋1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2176272"/>
            <a:ext cx="822960" cy="45720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1965960" y="21762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hₜ₋1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81328" y="2176272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2002536"/>
            <a:ext cx="0" cy="173736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658368" y="2816352"/>
            <a:ext cx="822960" cy="457200"/>
          </a:xfrm>
          <a:prstGeom prst="rect">
            <a:avLst/>
          </a:prstGeom>
          <a:solidFill>
            <a:srgbClr val="1C282E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58368" y="28163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xₜ₋0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65960" y="2816352"/>
            <a:ext cx="822960" cy="45720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1965960" y="28163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hₜ₋0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81328" y="2816352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377440" y="2642616"/>
            <a:ext cx="0" cy="173736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566928" y="3456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= f(hₜ₋₁, xₜ)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804672"/>
            <a:ext cx="54864" cy="3200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4160520" y="822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06240" y="12070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Contexto ilimitado em teoria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60520" y="1691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06240" y="20848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Vanishing gradient — informação dos primeiros tokens desvanece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206240" y="27980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Processamento sequencial — não paraleliza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Tentativa 3: CNN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locais aplicados em paralelo. Empilhar camadas aumenta o receptive field.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120700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475488" cy="47548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6692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20848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Paralelo, rápido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20700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566928" y="3502152"/>
            <a:ext cx="475488" cy="47548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6928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502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 limitado — precisa de muitas camadas para ver tokens distantes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(Arquitectura histórica — o Transformer superou-a.)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57860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olha directamente para TODOS os anteriores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5409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directo a qualquer token no contexto · Sem bottleneck sequencial · Paralelizável · Escalável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9584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context window existe — mas por custo computacional, não por limitação arquitectural)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 ·  Vaswani et al., 2017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537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 isto que vão implementar.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Resumo: cada passo resolve o anterior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condiciona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fixa · pesos fixos por posição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vê além de N · não foca no que importa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state sequencial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 locais empilhados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Receptive field limitado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 dinâmica sobre 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quadrático 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3547872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566928" y="3584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modelam p(x). A diferença é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condicionam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 tokens anteriores. MLP: pesos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fixos.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Transformer: atenção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41330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quadrático do Transformer explica os limites da context window: duplicar o contexto quadruplica o custo de attention. A janela da MLP está na arquitectura; a do Transformer é uma escolha de engenharia.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rnal\work\ISEL-UCs\SGAIM - 2526\aula02\btf-sli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mapa do Transformer (decoder-only)</a:t>
            </a:r>
            <a:endParaRPr lang="en-US" sz="2200" dirty="0"/>
          </a:p>
        </p:txBody>
      </p:sp>
      <p:pic>
        <p:nvPicPr>
          <p:cNvPr id="4" name="Image 0" descr="C:\Users\arnal\work\ISEL-UCs\SGAIM - 2526\aula02\images\transformer-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04672"/>
            <a:ext cx="822960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Slide-chave das 3 semanas. Voltem aqui sempre que precisarem de orientação.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Percurso bottom-up: 9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→ inteiros (ex1)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→ vectores densos (ex4)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432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Positional encoding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injectar informação de ordem (ex4)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2369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RMSNorm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" y="36210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antes de cada sub-camada (ex2)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4041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Self-Attention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44256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olha para os anteriores (ex3)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84124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4846320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Residual connection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85232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que estabiliza o treino (ex4)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164592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484632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85232" y="1627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285232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não-linear (ex2, linear + ReLU)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2450592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484632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5232" y="2432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Head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85232" y="2816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projectar para vocabulário (ex2, linear + softmax)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46320" y="3255264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484632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85232" y="32369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+ Training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285232" y="3621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+ optimizador (ex5)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63440" y="822960"/>
            <a:ext cx="0" cy="4041648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Decoder-only vs outros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4871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GPT, LLaMA, Claude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Esquerda → direita (causal)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Bidirecional (masked)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T5, tradução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input + decode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3063240"/>
            <a:ext cx="54864" cy="1371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566928" y="3090672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curso: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decoder-only.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a arquitectura dos LLMs modernos.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está na máscara de attention — verão isto no exercício 3.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é que o modelo aprende?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54864" cy="10972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do Transformer mostra o forward pass — dados entram, previsão sai.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modelo precisa de saber: em que direcção ajustar cada parâmetro?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registar operações num grafo (forward), percorrê-lo ao contrário (backward).</a:t>
            </a:r>
            <a:endParaRPr lang="en-US" sz="1500" dirty="0"/>
          </a:p>
        </p:txBody>
      </p:sp>
      <p:pic>
        <p:nvPicPr>
          <p:cNvPr id="8" name="Image 0" descr="C:\Users\arnal\work\ISEL-UCs\SGAIM - 2526\aula02\images\backprop-for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2578608"/>
            <a:ext cx="731520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a·b + a — cada operação é um nó. O exercício 1 constrói este motor.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THINK: o backward pass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77724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452360" y="777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THINK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pelo output (grad = 1) e propagamos derivadas locais para trás:</a:t>
            </a:r>
            <a:endParaRPr lang="en-US" sz="1450" dirty="0"/>
          </a:p>
        </p:txBody>
      </p:sp>
      <p:pic>
        <p:nvPicPr>
          <p:cNvPr id="7" name="Image 0" descr="C:\Users\arnal\work\ISEL-UCs\SGAIM - 2526\aula02\images\backprop-backward-thin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298448"/>
            <a:ext cx="7680960" cy="2542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950208"/>
            <a:ext cx="8229600" cy="896112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457200" y="3950208"/>
            <a:ext cx="54864" cy="8961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21792" y="4023360"/>
            <a:ext cx="7973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caminhos chegam a  </a:t>
            </a:r>
            <a:r>
              <a:rPr lang="en-US" sz="14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Qual é o gradiente de  </a:t>
            </a:r>
            <a:r>
              <a:rPr lang="en-US" sz="14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 →  É o THINK do exercício 1 — façam no papel antes de codificar.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vos espera nos exercícios de hoje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4114800" cy="404164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4114800" cy="54864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 1 — Autograd Engine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895344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566928" y="1463040"/>
            <a:ext cx="45720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713232" y="1508760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1–2 (forward): directos se tiverem feito as derivadas no papel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468880"/>
            <a:ext cx="3895344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566928" y="2468880"/>
            <a:ext cx="45720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713232" y="2514600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 (backward): o mais difícil. Desenhem o grafo antes de codificar.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474720"/>
            <a:ext cx="3895344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566928" y="3474720"/>
            <a:ext cx="45720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713232" y="3520440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4–5 (tokenizer): simples — aplicação directa do que acabaram de 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804672"/>
            <a:ext cx="3886200" cy="404164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4800600" y="804672"/>
            <a:ext cx="3886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919472" y="914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 2 — Building Blocks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919472" y="1463040"/>
            <a:ext cx="3657600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919472" y="1463040"/>
            <a:ext cx="45720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5065776" y="150876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(linear): dot product em loop — se funciona, funciona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19472" y="2468880"/>
            <a:ext cx="3657600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4919472" y="2468880"/>
            <a:ext cx="45720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5065776" y="251460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 (softmax): parece simples, mas o Test 3 vai falhar. Leiam o comentário do teste com atenção.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19472" y="3474720"/>
            <a:ext cx="3657600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4919472" y="3474720"/>
            <a:ext cx="45720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5065776" y="352044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 (rmsnorm): se chegarem aqui hoje, estão bem encaminhados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Mini-Project 1: regras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87452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da nota final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804672"/>
            <a:ext cx="187452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532888" y="868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32888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2888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ou 2 alunos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32888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ou par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187452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608576" y="868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08576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Entregável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08576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ficheiros 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08576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explicações no ex6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84264" y="804672"/>
            <a:ext cx="1874520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6684264" y="868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84264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Discussão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4264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 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84264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grupo, semana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8229600" cy="96012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54864" cy="960120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21792" y="2743200"/>
            <a:ext cx="7973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Compreensão: </a:t>
            </a: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  </a:t>
            </a:r>
            <a:r>
              <a:rPr lang="en-US" sz="1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correcto: </a:t>
            </a: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 </a:t>
            </a:r>
            <a:r>
              <a:rPr lang="en-US" sz="1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Legibilidade + estrutura: </a:t>
            </a: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102412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54864" cy="10241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21792" y="3858768"/>
            <a:ext cx="7973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não sabem explicar → nota baixa. 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&gt; Volume.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tutor: usar IA para pensar MAIS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54864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 prompt de tutor socrático no Moodle. O tutor nunca dá código — faz perguntas, exige previsões, escala gradualmente.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2011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66928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Bom uso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percebo o chain rule aqui — porquê é que o gradiente acumula com +=?"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3977640" cy="20116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7764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828032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Mau uso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2103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"Implementa o backward pass para mim."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8229600" cy="1024128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54864" cy="10241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21792" y="3822192"/>
            <a:ext cx="7973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para pensar </a:t>
            </a: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para pensar </a:t>
            </a:r>
            <a:r>
              <a:rPr lang="en-US" sz="15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tutor vos der a resposta directamente, algo correu mal — recarreguem o prompt.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Mãos à obra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1298448"/>
            <a:ext cx="7315200" cy="1481328"/>
          </a:xfrm>
          <a:prstGeom prst="rect">
            <a:avLst/>
          </a:prstGeom>
          <a:solidFill>
            <a:srgbClr val="1C282E"/>
          </a:solidFill>
          <a:ln w="12700">
            <a:solidFill>
              <a:srgbClr val="1C28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1051560" y="1389888"/>
            <a:ext cx="7040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Descarreguem os exercícios do Moodle (pasta exercises/)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Abram ex1_autograd.py no vosso editor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ex1_autograd.py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78638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 de ouro: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no papel  →  codificar  →  testar  →  REFLECT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3159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8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Prevejam antes de executar. Sempre.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Referência: backward completo</a:t>
            </a:r>
            <a:endParaRPr lang="en-US" sz="2200" dirty="0"/>
          </a:p>
        </p:txBody>
      </p:sp>
      <p:pic>
        <p:nvPicPr>
          <p:cNvPr id="4" name="Image 0" descr="C:\Users\arnal\work\ISEL-UCs\SGAIM - 2526\aula02\images\backprop-back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04672"/>
            <a:ext cx="82296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3"/>
          <p:cNvSpPr/>
          <p:nvPr/>
        </p:nvSpPr>
        <p:spPr>
          <a:xfrm>
            <a:off x="457200" y="4462272"/>
            <a:ext cx="54864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621792" y="4489704"/>
            <a:ext cx="7973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grad(a) = 3 + 1 = </a:t>
            </a: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 gradiente acumula (+=) contribuições de cada caminho.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27"/>
          </a:solidFill>
          <a:ln w="12700">
            <a:solidFill>
              <a:srgbClr val="1A232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F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Referência: neurónio com residual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relu(x·w + b) + x — um neurónio com skip connection.</a:t>
            </a:r>
            <a:endParaRPr lang="en-US" sz="1300" dirty="0"/>
          </a:p>
        </p:txBody>
      </p:sp>
      <p:pic>
        <p:nvPicPr>
          <p:cNvPr id="5" name="Image 0" descr="C:\Users\arnal\work\ISEL-UCs\SGAIM - 2526\aula02\images\backprop-neuron-back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61872"/>
            <a:ext cx="82296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279392"/>
            <a:ext cx="8229600" cy="6400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4"/>
          <p:cNvSpPr/>
          <p:nvPr/>
        </p:nvSpPr>
        <p:spPr>
          <a:xfrm>
            <a:off x="457200" y="4279392"/>
            <a:ext cx="54864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21792" y="4315968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relu "morre" (input negativo → relu' = 0), a residual connection (+ x) mantém o gradiente vivo. É por isso que as residual connections existem.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2130</Words>
  <Application>Microsoft Office PowerPoint</Application>
  <PresentationFormat>On-screen Show (16:9)</PresentationFormat>
  <Paragraphs>357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SGAIM — Aula 02: A arquitectura Transformer</dc:title>
  <dc:subject>PptxGenJS Presentation</dc:subject>
  <dc:creator>Arnaldo Abrantes</dc:creator>
  <cp:lastModifiedBy>Arnaldo Abrantes</cp:lastModifiedBy>
  <cp:revision>2</cp:revision>
  <dcterms:created xsi:type="dcterms:W3CDTF">2026-03-06T15:08:32Z</dcterms:created>
  <dcterms:modified xsi:type="dcterms:W3CDTF">2026-03-06T15:22:07Z</dcterms:modified>
</cp:coreProperties>
</file>